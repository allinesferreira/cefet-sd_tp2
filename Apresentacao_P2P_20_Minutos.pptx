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Tempo (s)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T1 · 10 KB</c:v>
                </c:pt>
                <c:pt idx="1">
                  <c:v>T2 · 20 KB</c:v>
                </c:pt>
                <c:pt idx="2">
                  <c:v>T3 · 1 MB</c:v>
                </c:pt>
                <c:pt idx="3">
                  <c:v>T4 · 5 MB</c:v>
                </c:pt>
                <c:pt idx="4">
                  <c:v>T5 · 10 MB</c:v>
                </c:pt>
                <c:pt idx="5">
                  <c:v>T6 · 20 MB</c:v>
                </c:pt>
                <c:pt idx="6">
                  <c:v>T7 · 1 MB / 4 P</c:v>
                </c:pt>
                <c:pt idx="7">
                  <c:v>T8 · 5 MB / 4 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0.202</c:v>
                </c:pt>
                <c:pt idx="1">
                  <c:v>0.203</c:v>
                </c:pt>
                <c:pt idx="2">
                  <c:v>0.503</c:v>
                </c:pt>
                <c:pt idx="3">
                  <c:v>0.704</c:v>
                </c:pt>
                <c:pt idx="4">
                  <c:v>3.216</c:v>
                </c:pt>
                <c:pt idx="5">
                  <c:v>2.313</c:v>
                </c:pt>
                <c:pt idx="6">
                  <c:v>0.757</c:v>
                </c:pt>
                <c:pt idx="7">
                  <c:v>1.26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5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Blocos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Peer B :25001</c:v>
                </c:pt>
                <c:pt idx="1">
                  <c:v>Peer C :25002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522</c:v>
                </c:pt>
                <c:pt idx="1">
                  <c:v>502</c:v>
                </c:pt>
              </c:numCache>
            </c:numRef>
          </c:val>
        </c:ser>
        <c:dLbls>
          <c:txPr>
            <a:bodyPr/>
            <a:lstStyle/>
            <a:p>
              <a:pPr>
                <a:defRPr sz="2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Apresentar integrantes e objetivo geral.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Explicar sequência e divisão da fala.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Diferenciar origem inicial do arquivo e compartilhamento subsequente.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Relacionar requisitos com a implementação.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Mostrar que D não depende de conexão direta com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Explicar thread por conexão e coordenação dos blocos.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Exemplificar uma sequência M → H → 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Destacar disponibilidade de blocos antes do download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Tempo é medido pelo script até detectar os arquivos; não é apenas transmissão.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Todos aprovados. Cautela: não comparar cenários com tamanhos de arquivo diferentes como se isolassem a variável.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Tamanho e hash do arquivo final conferidos contra original em todos os destinos.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Logs do Peer D mostram origem por porta. Isso comprova múltiplos fornecedores, mas não prova balanceamento automático.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Diferenciar funcionalidade comprovada de desempenho não comprovado.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Encerrar e abrir perguntas. Tempo total estimado: 20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Transferência de arquivos Peer-to-Peer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0">
                <a:solidFill>
                  <a:srgbClr val="B2C3D4"/>
                </a:solidFill>
              </a:defRPr>
            </a:pPr>
            <a:r>
              <a:t>Trabalho Prático 2  •  C++17 / Linux  •  Apresentação de 20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9144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F5F8FC"/>
                </a:solidFill>
              </a:defRPr>
            </a:pPr>
            <a:r>
              <a:t>Alline Santos Ferreira</a:t>
            </a:r>
          </a:p>
          <a:p>
            <a:pPr>
              <a:spcAft>
                <a:spcPts val="1400"/>
              </a:spcAft>
              <a:defRPr sz="2400" b="0">
                <a:solidFill>
                  <a:srgbClr val="F5F8FC"/>
                </a:solidFill>
              </a:defRPr>
            </a:pPr>
            <a:r>
              <a:t>Pedro Henrique Estevam Vaz de Melo</a:t>
            </a:r>
          </a:p>
          <a:p>
            <a:pPr>
              <a:spcAft>
                <a:spcPts val="1400"/>
              </a:spcAft>
              <a:defRPr sz="2400" b="0">
                <a:solidFill>
                  <a:srgbClr val="F5F8FC"/>
                </a:solidFill>
              </a:defRPr>
            </a:pPr>
            <a:r>
              <a:t>Rávilla Moreira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0">
                <a:solidFill>
                  <a:srgbClr val="B2C3D4"/>
                </a:solidFill>
              </a:defRPr>
            </a:pPr>
            <a:r>
              <a:t>20 minutos • 14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F5F8FC"/>
                </a:solidFill>
              </a:defRPr>
            </a:pPr>
            <a:r>
              <a:t>• Problema, objetivos e arquitetura</a:t>
            </a:r>
          </a:p>
          <a:p>
            <a:pPr>
              <a:spcAft>
                <a:spcPts val="1400"/>
              </a:spcAft>
              <a:defRPr sz="2400" b="0">
                <a:solidFill>
                  <a:srgbClr val="F5F8FC"/>
                </a:solidFill>
              </a:defRPr>
            </a:pPr>
            <a:r>
              <a:t>• Protocolo, implementação e demonstração do fluxo</a:t>
            </a:r>
          </a:p>
          <a:p>
            <a:pPr>
              <a:spcAft>
                <a:spcPts val="1400"/>
              </a:spcAft>
              <a:defRPr sz="2400" b="0">
                <a:solidFill>
                  <a:srgbClr val="F5F8FC"/>
                </a:solidFill>
              </a:defRPr>
            </a:pPr>
            <a:r>
              <a:t>• Metodologia, gráficos e interpretação dos resultados</a:t>
            </a:r>
          </a:p>
          <a:p>
            <a:pPr>
              <a:spcAft>
                <a:spcPts val="1400"/>
              </a:spcAft>
              <a:defRPr sz="2400" b="0">
                <a:solidFill>
                  <a:srgbClr val="F5F8FC"/>
                </a:solidFill>
              </a:defRPr>
            </a:pPr>
            <a:r>
              <a:t>• Limitações, conclusão e perguntas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Problema abordado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F5F8FC"/>
                </a:solidFill>
              </a:defRPr>
            </a:pPr>
            <a:r>
              <a:t>• Como distribuir um arquivo sem depender de um servidor central para todos os blocos?</a:t>
            </a:r>
          </a:p>
          <a:p>
            <a:pPr>
              <a:spcAft>
                <a:spcPts val="1400"/>
              </a:spcAft>
              <a:defRPr sz="2400" b="0">
                <a:solidFill>
                  <a:srgbClr val="F5F8FC"/>
                </a:solidFill>
              </a:defRPr>
            </a:pPr>
            <a:r>
              <a:t>• Um nó deve poder receber e disponibilizar partes do arquivo.</a:t>
            </a:r>
          </a:p>
          <a:p>
            <a:pPr>
              <a:spcAft>
                <a:spcPts val="1400"/>
              </a:spcAft>
              <a:defRPr sz="2400" b="0">
                <a:solidFill>
                  <a:srgbClr val="F5F8FC"/>
                </a:solidFill>
              </a:defRPr>
            </a:pPr>
            <a:r>
              <a:t>• É necessário preservar integridade e coordenar transferências concorrentes.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Objetivos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F5F8FC"/>
                </a:solidFill>
              </a:defRPr>
            </a:pPr>
            <a:r>
              <a:t>• Implementar Peer simétrico: servidor e cliente TCP no mesmo processo.</a:t>
            </a:r>
          </a:p>
          <a:p>
            <a:pPr>
              <a:spcAft>
                <a:spcPts val="1400"/>
              </a:spcAft>
              <a:defRPr sz="2200" b="0">
                <a:solidFill>
                  <a:srgbClr val="F5F8FC"/>
                </a:solidFill>
              </a:defRPr>
            </a:pPr>
            <a:r>
              <a:t>• Dividir, solicitar, verificar e remontar arquivos em blocos.</a:t>
            </a:r>
          </a:p>
          <a:p>
            <a:pPr>
              <a:spcAft>
                <a:spcPts val="1400"/>
              </a:spcAft>
              <a:defRPr sz="2200" b="0">
                <a:solidFill>
                  <a:srgbClr val="F5F8FC"/>
                </a:solidFill>
              </a:defRPr>
            </a:pPr>
            <a:r>
              <a:t>• Permitir que Leechers sirvam blocos já recebidos.</a:t>
            </a:r>
          </a:p>
          <a:p>
            <a:pPr>
              <a:spcAft>
                <a:spcPts val="1400"/>
              </a:spcAft>
              <a:defRPr sz="2200" b="0">
                <a:solidFill>
                  <a:srgbClr val="F5F8FC"/>
                </a:solidFill>
              </a:defRPr>
            </a:pPr>
            <a:r>
              <a:t>• Avaliar funcionamento em cenários de 2 e 4 Peers.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Arquitetura: topologia com quatro Peers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0">
                <a:solidFill>
                  <a:srgbClr val="B2C3D4"/>
                </a:solidFill>
              </a:defRPr>
            </a:pPr>
            <a:r>
              <a:t>A = Seeder inicial; B, C e D = Peers receptores e fornecedores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743200"/>
            <a:ext cx="1508760" cy="914400"/>
          </a:xfrm>
          <a:prstGeom prst="roundRect">
            <a:avLst/>
          </a:prstGeom>
          <a:solidFill>
            <a:srgbClr val="00A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852928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F5F8FC"/>
                </a:solidFill>
              </a:defRPr>
            </a:pPr>
            <a:r>
              <a:t>A</a:t>
            </a:r>
          </a:p>
          <a:p>
            <a:pPr>
              <a:spcAft>
                <a:spcPts val="1400"/>
              </a:spcAft>
              <a:defRPr sz="1900" b="1">
                <a:solidFill>
                  <a:srgbClr val="F5F8FC"/>
                </a:solidFill>
              </a:defRPr>
            </a:pPr>
            <a:r>
              <a:t>:25000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057400"/>
            <a:ext cx="1508760" cy="914400"/>
          </a:xfrm>
          <a:prstGeom prst="roundRect">
            <a:avLst/>
          </a:prstGeom>
          <a:solidFill>
            <a:srgbClr val="00A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167128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F5F8FC"/>
                </a:solidFill>
              </a:defRPr>
            </a:pPr>
            <a:r>
              <a:t>B</a:t>
            </a:r>
          </a:p>
          <a:p>
            <a:pPr>
              <a:spcAft>
                <a:spcPts val="1400"/>
              </a:spcAft>
              <a:defRPr sz="1900" b="1">
                <a:solidFill>
                  <a:srgbClr val="F5F8FC"/>
                </a:solidFill>
              </a:defRPr>
            </a:pPr>
            <a:r>
              <a:t>:25001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2743200"/>
            <a:ext cx="1508760" cy="914400"/>
          </a:xfrm>
          <a:prstGeom prst="roundRect">
            <a:avLst/>
          </a:prstGeom>
          <a:solidFill>
            <a:srgbClr val="00A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2852928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F5F8FC"/>
                </a:solidFill>
              </a:defRPr>
            </a:pPr>
            <a:r>
              <a:t>C</a:t>
            </a:r>
          </a:p>
          <a:p>
            <a:pPr>
              <a:spcAft>
                <a:spcPts val="1400"/>
              </a:spcAft>
              <a:defRPr sz="1900" b="1">
                <a:solidFill>
                  <a:srgbClr val="F5F8FC"/>
                </a:solidFill>
              </a:defRPr>
            </a:pPr>
            <a:r>
              <a:t>:25002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4069080"/>
            <a:ext cx="1508760" cy="914400"/>
          </a:xfrm>
          <a:prstGeom prst="roundRect">
            <a:avLst/>
          </a:prstGeom>
          <a:solidFill>
            <a:srgbClr val="00A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29800" y="4178808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F5F8FC"/>
                </a:solidFill>
              </a:defRPr>
            </a:pPr>
            <a:r>
              <a:t>D</a:t>
            </a:r>
          </a:p>
          <a:p>
            <a:pPr>
              <a:spcAft>
                <a:spcPts val="1400"/>
              </a:spcAft>
              <a:defRPr sz="1900" b="1">
                <a:solidFill>
                  <a:srgbClr val="F5F8FC"/>
                </a:solidFill>
              </a:defRPr>
            </a:pPr>
            <a:r>
              <a:t>:25003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F5F8FC"/>
                </a:solidFill>
              </a:defRPr>
            </a:pPr>
            <a:r>
              <a:t>B consulta A  •  C consulta A e B  •  D consulta B e 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Ferramentas e concorrência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C++17 e sockets TCP/IPv4 (POSIX); compilação via g++/Makefile.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Servidor acompanha conexões com select() e atende clientes com threads.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Mutex protege mapas have (disponíveis) e claimed (reservados).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pread/pwrite gravam blocos por deslocamento; OpenSSL verifica SHA-256.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Protocolo de comunicação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M — solicita metadados (P2PMETA1): nome, tamanho, blocos e hashes.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H — consulta mapa de disponibilidade: quais blocos o vizinho possui.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G — solicita um bloco pelo índice; resposta contém tamanho e dados.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sendall/recvall tratam leituras e escritas parciais em TCP.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Fluxo de transferência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1. Obter metadados e identificar blocos faltantes.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2. Consultar disponibilidade dos vizinhos e reservar um índice.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3. Receber bloco, validar hash individual e gravar em .part.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4. Publicar o bloco para outros Peers; repetir até completar.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5. Conferir SHA-256 integral e finalizar o arquivo.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Metodologia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F5F8FC"/>
                </a:solidFill>
              </a:defRPr>
            </a:pPr>
            <a:r>
              <a:t>• Oito cenários em Linux, usando 127.0.0.1 (loopback).</a:t>
            </a:r>
          </a:p>
          <a:p>
            <a:pPr>
              <a:spcAft>
                <a:spcPts val="1400"/>
              </a:spcAft>
              <a:defRPr sz="2000" b="0">
                <a:solidFill>
                  <a:srgbClr val="F5F8FC"/>
                </a:solidFill>
              </a:defRPr>
            </a:pPr>
            <a:r>
              <a:t>• 2 ou 4 Peers; blocos de 1024 ou 4096 bytes.</a:t>
            </a:r>
          </a:p>
          <a:p>
            <a:pPr>
              <a:spcAft>
                <a:spcPts val="1400"/>
              </a:spcAft>
              <a:defRPr sz="2000" b="0">
                <a:solidFill>
                  <a:srgbClr val="F5F8FC"/>
                </a:solidFill>
              </a:defRPr>
            </a:pPr>
            <a:r>
              <a:t>• Arquivos: 10 KB, 20 KB, 1 MB, 5 MB, 10 MB e 20 MB.</a:t>
            </a:r>
          </a:p>
          <a:p>
            <a:pPr>
              <a:spcAft>
                <a:spcPts val="1400"/>
              </a:spcAft>
              <a:defRPr sz="2000" b="0">
                <a:solidFill>
                  <a:srgbClr val="F5F8FC"/>
                </a:solidFill>
              </a:defRPr>
            </a:pPr>
            <a:r>
              <a:t>• Script Python gera arquivos, inicia processos, mede tempo e compara SHA-256.</a:t>
            </a:r>
          </a:p>
          <a:p>
            <a:pPr>
              <a:spcAft>
                <a:spcPts val="1400"/>
              </a:spcAft>
              <a:defRPr sz="2000" b="0">
                <a:solidFill>
                  <a:srgbClr val="F5F8FC"/>
                </a:solidFill>
              </a:defRPr>
            </a:pPr>
            <a:r>
              <a:t>• Uma execução por cenário; medições não isolam efeitos individuais.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Resultados: tempos dos oito testes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0">
                <a:solidFill>
                  <a:srgbClr val="B2C3D4"/>
                </a:solidFill>
              </a:defRPr>
            </a:pPr>
            <a:r>
              <a:t>Tempo observado por cenário — segundos (uma execução por configuração)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005840" y="1828800"/>
          <a:ext cx="1005840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Resultados: integridade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6500" b="1">
                <a:solidFill>
                  <a:srgbClr val="00A0A9"/>
                </a:solidFill>
              </a:defRPr>
            </a:pPr>
            <a:r>
              <a:t>8 de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 b="0">
                <a:solidFill>
                  <a:srgbClr val="F5F8FC"/>
                </a:solidFill>
              </a:defRPr>
            </a:pPr>
            <a:r>
              <a:t>cenários com SHA-256 válido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Resultados: distribuição de blocos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0">
                <a:solidFill>
                  <a:srgbClr val="B2C3D4"/>
                </a:solidFill>
              </a:defRPr>
            </a:pPr>
            <a:r>
              <a:t>Peer D • arquivo de 1 MB • 1024 blocos de 1024 bytes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12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280160" y="1828800"/>
          <a:ext cx="905256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0" y="5623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5F8FC"/>
                </a:solidFill>
              </a:defRPr>
            </a:pPr>
            <a:r>
              <a:t>50,98% de B  •  49,02% de 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Interpretação e limitações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F5F8FC"/>
                </a:solidFill>
              </a:defRPr>
            </a:pPr>
            <a:r>
              <a:t>• Evidência: B e C compartilharam blocos com D; o Seeder não foi a única fonte.</a:t>
            </a:r>
          </a:p>
          <a:p>
            <a:pPr>
              <a:spcAft>
                <a:spcPts val="1400"/>
              </a:spcAft>
              <a:defRPr sz="1900" b="0">
                <a:solidFill>
                  <a:srgbClr val="F5F8FC"/>
                </a:solidFill>
              </a:defRPr>
            </a:pPr>
            <a:r>
              <a:t>• Os oito arquivos reconstruídos passaram na verificação de integridade.</a:t>
            </a:r>
          </a:p>
          <a:p>
            <a:pPr>
              <a:spcAft>
                <a:spcPts val="1400"/>
              </a:spcAft>
              <a:defRPr sz="1900" b="0">
                <a:solidFill>
                  <a:srgbClr val="F5F8FC"/>
                </a:solidFill>
              </a:defRPr>
            </a:pPr>
            <a:r>
              <a:t>• Tempos variaram de 0,202 s a 3,216 s, sem repetição estatística.</a:t>
            </a:r>
          </a:p>
          <a:p>
            <a:pPr>
              <a:spcAft>
                <a:spcPts val="1400"/>
              </a:spcAft>
              <a:defRPr sz="1900" b="0">
                <a:solidFill>
                  <a:srgbClr val="F5F8FC"/>
                </a:solidFill>
              </a:defRPr>
            </a:pPr>
            <a:r>
              <a:t>• Localhost não representa latência, perda ou congestionamento de uma rede física.</a:t>
            </a:r>
          </a:p>
          <a:p>
            <a:pPr>
              <a:spcAft>
                <a:spcPts val="1400"/>
              </a:spcAft>
              <a:defRPr sz="1900" b="0">
                <a:solidFill>
                  <a:srgbClr val="F5F8FC"/>
                </a:solidFill>
              </a:defRPr>
            </a:pPr>
            <a:r>
              <a:t>• Não é possível inferir ganho por número de Peers ou tamanho de bloco isoladamente.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Conclusão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F5F8FC"/>
                </a:solidFill>
              </a:defRPr>
            </a:pPr>
            <a:r>
              <a:t>• Sistema P2P funcional: fragmentação, concorrência, redistribuição e remontagem.</a:t>
            </a:r>
          </a:p>
          <a:p>
            <a:pPr>
              <a:spcAft>
                <a:spcPts val="1400"/>
              </a:spcAft>
              <a:defRPr sz="2200" b="0">
                <a:solidFill>
                  <a:srgbClr val="F5F8FC"/>
                </a:solidFill>
              </a:defRPr>
            </a:pPr>
            <a:r>
              <a:t>• Logs confirmam que Peers intermediários fornecem blocos.</a:t>
            </a:r>
          </a:p>
          <a:p>
            <a:pPr>
              <a:spcAft>
                <a:spcPts val="1400"/>
              </a:spcAft>
              <a:defRPr sz="2200" b="0">
                <a:solidFill>
                  <a:srgbClr val="F5F8FC"/>
                </a:solidFill>
              </a:defRPr>
            </a:pPr>
            <a:r>
              <a:t>• Próximos passos: experimentos repetidos, máquinas distintas, retomada e segurança.</a:t>
            </a:r>
          </a:p>
          <a:p>
            <a:pPr>
              <a:spcAft>
                <a:spcPts val="1400"/>
              </a:spcAft>
              <a:defRPr sz="2200" b="0">
                <a:solidFill>
                  <a:srgbClr val="F5F8FC"/>
                </a:solidFill>
              </a:defRPr>
            </a:pPr>
            <a:r>
              <a:t>• Código-fonte: inserir URL do repositório antes da entrega.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700" b="1">
                <a:solidFill>
                  <a:srgbClr val="00A0A9"/>
                </a:solidFill>
              </a:defRPr>
            </a:pPr>
            <a:r>
              <a:t>Obrigado! 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