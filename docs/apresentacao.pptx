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2 peers, bloco 1024 B</c:v>
                </c:pt>
              </c:strCache>
            </c:strRef>
          </c:tx>
          <c:spPr>
            <a:solidFill>
              <a:srgbClr val="2E86C1"/>
            </a:solidFill>
          </c:spPr>
          <c:cat>
            <c:strRef>
              <c:f>Sheet1!$A$2:$A$7</c:f>
              <c:strCache>
                <c:ptCount val="6"/>
                <c:pt idx="0">
                  <c:v>10 KB</c:v>
                </c:pt>
                <c:pt idx="1">
                  <c:v>20 KB</c:v>
                </c:pt>
                <c:pt idx="2">
                  <c:v>1 MB</c:v>
                </c:pt>
                <c:pt idx="3">
                  <c:v>5 MB</c:v>
                </c:pt>
                <c:pt idx="4">
                  <c:v>10 MB</c:v>
                </c:pt>
                <c:pt idx="5">
                  <c:v>20 MB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4</c:v>
                </c:pt>
                <c:pt idx="1">
                  <c:v>5</c:v>
                </c:pt>
                <c:pt idx="2">
                  <c:v>148</c:v>
                </c:pt>
                <c:pt idx="3">
                  <c:v>705</c:v>
                </c:pt>
                <c:pt idx="4">
                  <c:v>1345</c:v>
                </c:pt>
                <c:pt idx="5">
                  <c:v>2660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 peers, bloco 4096 B</c:v>
                </c:pt>
              </c:strCache>
            </c:strRef>
          </c:tx>
          <c:spPr>
            <a:solidFill>
              <a:srgbClr val="85C1E9"/>
            </a:solidFill>
          </c:spPr>
          <c:cat>
            <c:strRef>
              <c:f>Sheet1!$A$2:$A$7</c:f>
              <c:strCache>
                <c:ptCount val="6"/>
                <c:pt idx="0">
                  <c:v>10 KB</c:v>
                </c:pt>
                <c:pt idx="1">
                  <c:v>20 KB</c:v>
                </c:pt>
                <c:pt idx="2">
                  <c:v>1 MB</c:v>
                </c:pt>
                <c:pt idx="3">
                  <c:v>5 MB</c:v>
                </c:pt>
                <c:pt idx="4">
                  <c:v>10 MB</c:v>
                </c:pt>
                <c:pt idx="5">
                  <c:v>20 MB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3</c:v>
                </c:pt>
                <c:pt idx="1">
                  <c:v>4</c:v>
                </c:pt>
                <c:pt idx="2">
                  <c:v>40</c:v>
                </c:pt>
                <c:pt idx="3">
                  <c:v>185</c:v>
                </c:pt>
                <c:pt idx="4">
                  <c:v>388</c:v>
                </c:pt>
                <c:pt idx="5">
                  <c:v>760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4 peers, bloco 1024 B</c:v>
                </c:pt>
              </c:strCache>
            </c:strRef>
          </c:tx>
          <c:spPr>
            <a:solidFill>
              <a:srgbClr val="E67E22"/>
            </a:solidFill>
          </c:spPr>
          <c:cat>
            <c:strRef>
              <c:f>Sheet1!$A$2:$A$7</c:f>
              <c:strCache>
                <c:ptCount val="6"/>
                <c:pt idx="0">
                  <c:v>10 KB</c:v>
                </c:pt>
                <c:pt idx="1">
                  <c:v>20 KB</c:v>
                </c:pt>
                <c:pt idx="2">
                  <c:v>1 MB</c:v>
                </c:pt>
                <c:pt idx="3">
                  <c:v>5 MB</c:v>
                </c:pt>
                <c:pt idx="4">
                  <c:v>10 MB</c:v>
                </c:pt>
                <c:pt idx="5">
                  <c:v>20 MB</c:v>
                </c:pt>
              </c:strCache>
            </c: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5</c:v>
                </c:pt>
                <c:pt idx="1">
                  <c:v>6</c:v>
                </c:pt>
                <c:pt idx="2">
                  <c:v>164</c:v>
                </c:pt>
                <c:pt idx="3">
                  <c:v>790</c:v>
                </c:pt>
                <c:pt idx="4">
                  <c:v>1472</c:v>
                </c:pt>
                <c:pt idx="5">
                  <c:v>2860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4 peers, bloco 4096 B</c:v>
                </c:pt>
              </c:strCache>
            </c:strRef>
          </c:tx>
          <c:spPr>
            <a:solidFill>
              <a:srgbClr val="F5CBA7"/>
            </a:solidFill>
          </c:spPr>
          <c:cat>
            <c:strRef>
              <c:f>Sheet1!$A$2:$A$7</c:f>
              <c:strCache>
                <c:ptCount val="6"/>
                <c:pt idx="0">
                  <c:v>10 KB</c:v>
                </c:pt>
                <c:pt idx="1">
                  <c:v>20 KB</c:v>
                </c:pt>
                <c:pt idx="2">
                  <c:v>1 MB</c:v>
                </c:pt>
                <c:pt idx="3">
                  <c:v>5 MB</c:v>
                </c:pt>
                <c:pt idx="4">
                  <c:v>10 MB</c:v>
                </c:pt>
                <c:pt idx="5">
                  <c:v>20 MB</c:v>
                </c:pt>
              </c:strCache>
            </c:strRef>
          </c:cat>
          <c:val>
            <c:numRef>
              <c:f>Sheet1!$E$2:$E$7</c:f>
              <c:numCache>
                <c:formatCode>General</c:formatCode>
                <c:ptCount val="6"/>
                <c:pt idx="0">
                  <c:v>7</c:v>
                </c:pt>
                <c:pt idx="1">
                  <c:v>7</c:v>
                </c:pt>
                <c:pt idx="2">
                  <c:v>51</c:v>
                </c:pt>
                <c:pt idx="3">
                  <c:v>218</c:v>
                </c:pt>
                <c:pt idx="4">
                  <c:v>453</c:v>
                </c:pt>
                <c:pt idx="5">
                  <c:v>852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>
          <c:spPr>
            <a:ln>
              <a:solidFill>
                <a:srgbClr val="3A4A63"/>
              </a:solidFill>
            </a:ln>
          </c:spPr>
        </c:majorGridlines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200">
          <a:solidFill>
            <a:srgbClr val="D9E1EA"/>
          </a:solidFill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Blocos</c:v>
                </c:pt>
              </c:strCache>
            </c:strRef>
          </c:tx>
          <c:spPr>
            <a:solidFill>
              <a:srgbClr val="1FA2A8"/>
            </a:solidFill>
          </c:spPr>
          <c:cat>
            <c:strRef>
              <c:f>Sheet1!$A$2:$A$5</c:f>
              <c:strCache>
                <c:ptCount val="4"/>
                <c:pt idx="0">
                  <c:v>C ← A</c:v>
                </c:pt>
                <c:pt idx="1">
                  <c:v>C ← B</c:v>
                </c:pt>
                <c:pt idx="2">
                  <c:v>D ← B</c:v>
                </c:pt>
                <c:pt idx="3">
                  <c:v>D ← C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13063</c:v>
                </c:pt>
                <c:pt idx="1">
                  <c:v>7417</c:v>
                </c:pt>
                <c:pt idx="2">
                  <c:v>6693</c:v>
                </c:pt>
                <c:pt idx="3">
                  <c:v>13787</c:v>
                </c:pt>
              </c:numCache>
            </c:numRef>
          </c:val>
        </c:ser>
        <c:dLbls>
          <c:txPr>
            <a:bodyPr/>
            <a:lstStyle/>
            <a:p>
              <a:pPr>
                <a:defRPr sz="20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3A4A63"/>
              </a:solidFill>
            </a:ln>
          </c:spPr>
        </c:majorGridlines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200">
          <a:solidFill>
            <a:srgbClr val="D9E1EA"/>
          </a:solidFill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 min. Apresentar integrantes e objetivo geral.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 min. Explicar sequência e divisão da fala.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1,5 min. Diferenciar origem inicial do arquivo e compartilhamento subsequente.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 min. Relacionar requisitos com a implementação.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1,5 min. Mostrar que D não depende de conexão direta com 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1,5 min. Explicar thread por conexão e coordenação dos blocos.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1,5 min. Exemplificar uma sequência M → H → 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1,5 min. Destacar disponibilidade de blocos antes do download completo.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1,5 min. Tempo é medido pelo script até detectar os arquivos; não é apenas transmissão.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 min. Todos aprovados. Cautela: não comparar cenários com tamanhos de arquivo diferentes como se isolassem a variável.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 min. Tamanho e hash do arquivo final conferidos contra original em todos os destinos.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 min. Logs do Peer D mostram origem por porta. Isso comprova múltiplos fornecedores, mas não prova balanceamento automático.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1,5 min. Diferenciar funcionalidade comprovada de desempenho não comprovado.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 min. Encerrar e abrir perguntas. Tempo total estimado: 20 minutos.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22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548640"/>
            <a:ext cx="82296" cy="530352"/>
          </a:xfrm>
          <a:prstGeom prst="rect">
            <a:avLst/>
          </a:prstGeom>
          <a:solidFill>
            <a:srgbClr val="00A0A9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75488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3000" b="1">
                <a:solidFill>
                  <a:srgbClr val="F5F8FC"/>
                </a:solidFill>
              </a:defRPr>
            </a:pPr>
            <a:r>
              <a:t>Transferência de arquivos Peer-to-Peer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61872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500" b="0">
                <a:solidFill>
                  <a:srgbClr val="B2C3D4"/>
                </a:solidFill>
              </a:defRPr>
            </a:pPr>
            <a:r>
              <a:t>Trabalho Prático 2  •  C++17 / Linux  •  2026/2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92240"/>
            <a:ext cx="10058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000" b="0">
                <a:solidFill>
                  <a:srgbClr val="B2C3D4"/>
                </a:solidFill>
              </a:defRPr>
            </a:pPr>
            <a:r>
              <a:t>CEFET-MG • Sistemas Distribuídos  |  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331720"/>
            <a:ext cx="91440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400" b="0">
                <a:solidFill>
                  <a:srgbClr val="F5F8FC"/>
                </a:solidFill>
              </a:defRPr>
            </a:pPr>
            <a:r>
              <a:t>Alline Santos Ferreira</a:t>
            </a:r>
          </a:p>
          <a:p>
            <a:pPr>
              <a:spcAft>
                <a:spcPts val="1400"/>
              </a:spcAft>
              <a:defRPr sz="2400" b="0">
                <a:solidFill>
                  <a:srgbClr val="F5F8FC"/>
                </a:solidFill>
              </a:defRPr>
            </a:pPr>
            <a:r>
              <a:t>Pedro Henrique Estevam Vaz de Melo</a:t>
            </a:r>
          </a:p>
          <a:p>
            <a:pPr>
              <a:spcAft>
                <a:spcPts val="1400"/>
              </a:spcAft>
              <a:defRPr sz="2400" b="0">
                <a:solidFill>
                  <a:srgbClr val="F5F8FC"/>
                </a:solidFill>
              </a:defRPr>
            </a:pPr>
            <a:r>
              <a:t>Rávilla Moreira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22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548640"/>
            <a:ext cx="82296" cy="530352"/>
          </a:xfrm>
          <a:prstGeom prst="rect">
            <a:avLst/>
          </a:prstGeom>
          <a:solidFill>
            <a:srgbClr val="00A0A9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75488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3000" b="1">
                <a:solidFill>
                  <a:srgbClr val="F5F8FC"/>
                </a:solidFill>
              </a:defRPr>
            </a:pPr>
            <a:r>
              <a:t>Roteiro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61872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500" b="0">
                <a:solidFill>
                  <a:srgbClr val="B2C3D4"/>
                </a:solidFill>
              </a:defRPr>
            </a:pPr>
            <a:r>
              <a:t>20 minutos • 14 slides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92240"/>
            <a:ext cx="10058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000" b="0">
                <a:solidFill>
                  <a:srgbClr val="B2C3D4"/>
                </a:solidFill>
              </a:defRPr>
            </a:pPr>
            <a:r>
              <a:t>CEFET-MG • Sistemas Distribuídos  |  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828800"/>
            <a:ext cx="10515600" cy="4251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400" b="0">
                <a:solidFill>
                  <a:srgbClr val="F5F8FC"/>
                </a:solidFill>
              </a:defRPr>
            </a:pPr>
            <a:r>
              <a:t>• Problema, objetivos e arquitetura</a:t>
            </a:r>
          </a:p>
          <a:p>
            <a:pPr>
              <a:spcAft>
                <a:spcPts val="1400"/>
              </a:spcAft>
              <a:defRPr sz="2400" b="0">
                <a:solidFill>
                  <a:srgbClr val="F5F8FC"/>
                </a:solidFill>
              </a:defRPr>
            </a:pPr>
            <a:r>
              <a:t>• Protocolo, implementação e demonstração do fluxo</a:t>
            </a:r>
          </a:p>
          <a:p>
            <a:pPr>
              <a:spcAft>
                <a:spcPts val="1400"/>
              </a:spcAft>
              <a:defRPr sz="2400" b="0">
                <a:solidFill>
                  <a:srgbClr val="F5F8FC"/>
                </a:solidFill>
              </a:defRPr>
            </a:pPr>
            <a:r>
              <a:t>• Metodologia, gráficos e interpretação dos resultados</a:t>
            </a:r>
          </a:p>
          <a:p>
            <a:pPr>
              <a:spcAft>
                <a:spcPts val="1400"/>
              </a:spcAft>
              <a:defRPr sz="2400" b="0">
                <a:solidFill>
                  <a:srgbClr val="F5F8FC"/>
                </a:solidFill>
              </a:defRPr>
            </a:pPr>
            <a:r>
              <a:t>• Limitações, conclusão e perguntas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22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548640"/>
            <a:ext cx="82296" cy="530352"/>
          </a:xfrm>
          <a:prstGeom prst="rect">
            <a:avLst/>
          </a:prstGeom>
          <a:solidFill>
            <a:srgbClr val="00A0A9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75488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3000" b="1">
                <a:solidFill>
                  <a:srgbClr val="F5F8FC"/>
                </a:solidFill>
              </a:defRPr>
            </a:pPr>
            <a:r>
              <a:t>Problema abordado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92240"/>
            <a:ext cx="10058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000" b="0">
                <a:solidFill>
                  <a:srgbClr val="B2C3D4"/>
                </a:solidFill>
              </a:defRPr>
            </a:pPr>
            <a:r>
              <a:t>CEFET-MG • Sistemas Distribuídos  |  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828800"/>
            <a:ext cx="10515600" cy="4251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400" b="0">
                <a:solidFill>
                  <a:srgbClr val="F5F8FC"/>
                </a:solidFill>
              </a:defRPr>
            </a:pPr>
            <a:r>
              <a:t>• Como distribuir um arquivo sem depender de um servidor central para todos os blocos?</a:t>
            </a:r>
          </a:p>
          <a:p>
            <a:pPr>
              <a:spcAft>
                <a:spcPts val="1400"/>
              </a:spcAft>
              <a:defRPr sz="2400" b="0">
                <a:solidFill>
                  <a:srgbClr val="F5F8FC"/>
                </a:solidFill>
              </a:defRPr>
            </a:pPr>
            <a:r>
              <a:t>• Um nó deve poder receber e disponibilizar partes do arquivo.</a:t>
            </a:r>
          </a:p>
          <a:p>
            <a:pPr>
              <a:spcAft>
                <a:spcPts val="1400"/>
              </a:spcAft>
              <a:defRPr sz="2400" b="0">
                <a:solidFill>
                  <a:srgbClr val="F5F8FC"/>
                </a:solidFill>
              </a:defRPr>
            </a:pPr>
            <a:r>
              <a:t>• É necessário preservar integridade e coordenar transferências concorrentes.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22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548640"/>
            <a:ext cx="82296" cy="530352"/>
          </a:xfrm>
          <a:prstGeom prst="rect">
            <a:avLst/>
          </a:prstGeom>
          <a:solidFill>
            <a:srgbClr val="00A0A9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75488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3000" b="1">
                <a:solidFill>
                  <a:srgbClr val="F5F8FC"/>
                </a:solidFill>
              </a:defRPr>
            </a:pPr>
            <a:r>
              <a:t>Objetivos do projeto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92240"/>
            <a:ext cx="10058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000" b="0">
                <a:solidFill>
                  <a:srgbClr val="B2C3D4"/>
                </a:solidFill>
              </a:defRPr>
            </a:pPr>
            <a:r>
              <a:t>CEFET-MG • Sistemas Distribuídos  |  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828800"/>
            <a:ext cx="10515600" cy="4251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200" b="0">
                <a:solidFill>
                  <a:srgbClr val="F5F8FC"/>
                </a:solidFill>
              </a:defRPr>
            </a:pPr>
            <a:r>
              <a:t>• Implementar Peer simétrico: servidor e cliente TCP no mesmo processo.</a:t>
            </a:r>
          </a:p>
          <a:p>
            <a:pPr>
              <a:spcAft>
                <a:spcPts val="1400"/>
              </a:spcAft>
              <a:defRPr sz="2200" b="0">
                <a:solidFill>
                  <a:srgbClr val="F5F8FC"/>
                </a:solidFill>
              </a:defRPr>
            </a:pPr>
            <a:r>
              <a:t>• Dividir, solicitar, verificar e remontar arquivos em blocos.</a:t>
            </a:r>
          </a:p>
          <a:p>
            <a:pPr>
              <a:spcAft>
                <a:spcPts val="1400"/>
              </a:spcAft>
              <a:defRPr sz="2200" b="0">
                <a:solidFill>
                  <a:srgbClr val="F5F8FC"/>
                </a:solidFill>
              </a:defRPr>
            </a:pPr>
            <a:r>
              <a:t>• Permitir que Leechers sirvam blocos já recebidos.</a:t>
            </a:r>
          </a:p>
          <a:p>
            <a:pPr>
              <a:spcAft>
                <a:spcPts val="1400"/>
              </a:spcAft>
              <a:defRPr sz="2200" b="0">
                <a:solidFill>
                  <a:srgbClr val="F5F8FC"/>
                </a:solidFill>
              </a:defRPr>
            </a:pPr>
            <a:r>
              <a:t>• Avaliar funcionamento em cenários de 2 e 4 Peers.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22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548640"/>
            <a:ext cx="82296" cy="530352"/>
          </a:xfrm>
          <a:prstGeom prst="rect">
            <a:avLst/>
          </a:prstGeom>
          <a:solidFill>
            <a:srgbClr val="00A0A9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75488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3000" b="1">
                <a:solidFill>
                  <a:srgbClr val="F5F8FC"/>
                </a:solidFill>
              </a:defRPr>
            </a:pPr>
            <a:r>
              <a:t>Arquitetura: topologia com quatro Peers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61872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500" b="0">
                <a:solidFill>
                  <a:srgbClr val="B2C3D4"/>
                </a:solidFill>
              </a:defRPr>
            </a:pPr>
            <a:r>
              <a:t>A = Seeder inicial; B, C e D = Peers receptores e fornecedores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92240"/>
            <a:ext cx="10058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000" b="0">
                <a:solidFill>
                  <a:srgbClr val="B2C3D4"/>
                </a:solidFill>
              </a:defRPr>
            </a:pPr>
            <a:r>
              <a:t>CEFET-MG • Sistemas Distribuídos  |  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280160" y="2743200"/>
            <a:ext cx="1508760" cy="914400"/>
          </a:xfrm>
          <a:prstGeom prst="roundRect">
            <a:avLst/>
          </a:prstGeom>
          <a:solidFill>
            <a:srgbClr val="00A0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08760" y="2852928"/>
            <a:ext cx="1097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900" b="1">
                <a:solidFill>
                  <a:srgbClr val="F5F8FC"/>
                </a:solidFill>
              </a:defRPr>
            </a:pPr>
            <a:r>
              <a:t>A</a:t>
            </a:r>
          </a:p>
          <a:p>
            <a:pPr>
              <a:spcAft>
                <a:spcPts val="1400"/>
              </a:spcAft>
              <a:defRPr sz="1900" b="1">
                <a:solidFill>
                  <a:srgbClr val="F5F8FC"/>
                </a:solidFill>
              </a:defRPr>
            </a:pPr>
            <a:r>
              <a:t>:25000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0" y="2057400"/>
            <a:ext cx="1508760" cy="914400"/>
          </a:xfrm>
          <a:prstGeom prst="roundRect">
            <a:avLst/>
          </a:prstGeom>
          <a:solidFill>
            <a:srgbClr val="00A0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343400" y="2167128"/>
            <a:ext cx="1097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900" b="1">
                <a:solidFill>
                  <a:srgbClr val="F5F8FC"/>
                </a:solidFill>
              </a:defRPr>
            </a:pPr>
            <a:r>
              <a:t>B</a:t>
            </a:r>
          </a:p>
          <a:p>
            <a:pPr>
              <a:spcAft>
                <a:spcPts val="1400"/>
              </a:spcAft>
              <a:defRPr sz="1900" b="1">
                <a:solidFill>
                  <a:srgbClr val="F5F8FC"/>
                </a:solidFill>
              </a:defRPr>
            </a:pPr>
            <a:r>
              <a:t>:25001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040880" y="2743200"/>
            <a:ext cx="1508760" cy="914400"/>
          </a:xfrm>
          <a:prstGeom prst="roundRect">
            <a:avLst/>
          </a:prstGeom>
          <a:solidFill>
            <a:srgbClr val="00A0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269480" y="2852928"/>
            <a:ext cx="1097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900" b="1">
                <a:solidFill>
                  <a:srgbClr val="F5F8FC"/>
                </a:solidFill>
              </a:defRPr>
            </a:pPr>
            <a:r>
              <a:t>C</a:t>
            </a:r>
          </a:p>
          <a:p>
            <a:pPr>
              <a:spcAft>
                <a:spcPts val="1400"/>
              </a:spcAft>
              <a:defRPr sz="1900" b="1">
                <a:solidFill>
                  <a:srgbClr val="F5F8FC"/>
                </a:solidFill>
              </a:defRPr>
            </a:pPr>
            <a:r>
              <a:t>:25002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601200" y="4069080"/>
            <a:ext cx="1508760" cy="914400"/>
          </a:xfrm>
          <a:prstGeom prst="roundRect">
            <a:avLst/>
          </a:prstGeom>
          <a:solidFill>
            <a:srgbClr val="00A0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829800" y="4178808"/>
            <a:ext cx="1097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900" b="1">
                <a:solidFill>
                  <a:srgbClr val="F5F8FC"/>
                </a:solidFill>
              </a:defRPr>
            </a:pPr>
            <a:r>
              <a:t>D</a:t>
            </a:r>
          </a:p>
          <a:p>
            <a:pPr>
              <a:spcAft>
                <a:spcPts val="1400"/>
              </a:spcAft>
              <a:defRPr sz="1900" b="1">
                <a:solidFill>
                  <a:srgbClr val="F5F8FC"/>
                </a:solidFill>
              </a:defRPr>
            </a:pPr>
            <a:r>
              <a:t>:25003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54406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200" b="0">
                <a:solidFill>
                  <a:srgbClr val="F5F8FC"/>
                </a:solidFill>
              </a:defRPr>
            </a:pPr>
            <a:r>
              <a:t>B consulta A  •  C consulta A e B  •  D consulta B e C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22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548640"/>
            <a:ext cx="82296" cy="530352"/>
          </a:xfrm>
          <a:prstGeom prst="rect">
            <a:avLst/>
          </a:prstGeom>
          <a:solidFill>
            <a:srgbClr val="00A0A9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75488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3000" b="1">
                <a:solidFill>
                  <a:srgbClr val="F5F8FC"/>
                </a:solidFill>
              </a:defRPr>
            </a:pPr>
            <a:r>
              <a:t>Ferramentas e concorrência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92240"/>
            <a:ext cx="10058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000" b="0">
                <a:solidFill>
                  <a:srgbClr val="B2C3D4"/>
                </a:solidFill>
              </a:defRPr>
            </a:pPr>
            <a:r>
              <a:t>CEFET-MG • Sistemas Distribuídos  |  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828800"/>
            <a:ext cx="10515600" cy="4251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100" b="0">
                <a:solidFill>
                  <a:srgbClr val="F5F8FC"/>
                </a:solidFill>
              </a:defRPr>
            </a:pPr>
            <a:r>
              <a:t>• C++17 e sockets TCP/IPv4 (POSIX); compilação com g++ e Makefile.</a:t>
            </a:r>
          </a:p>
          <a:p>
            <a:pPr>
              <a:spcAft>
                <a:spcPts val="1400"/>
              </a:spcAft>
              <a:defRPr sz="2100" b="0">
                <a:solidFill>
                  <a:srgbClr val="F5F8FC"/>
                </a:solidFill>
              </a:defRPr>
            </a:pPr>
            <a:r>
              <a:t>• Servidor em uma única thread, com sockets não bloqueantes e poll().</a:t>
            </a:r>
          </a:p>
          <a:p>
            <a:pPr>
              <a:spcAft>
                <a:spcPts val="1400"/>
              </a:spcAft>
              <a:defRPr sz="2100" b="0">
                <a:solidFill>
                  <a:srgbClr val="F5F8FC"/>
                </a:solidFill>
              </a:defRPr>
            </a:pPr>
            <a:r>
              <a:t>• Uma thread de download por vizinho, pedindo blocos em ordem aleatória.</a:t>
            </a:r>
          </a:p>
          <a:p>
            <a:pPr>
              <a:spcAft>
                <a:spcPts val="1400"/>
              </a:spcAft>
              <a:defRPr sz="2100" b="0">
                <a:solidFill>
                  <a:srgbClr val="F5F8FC"/>
                </a:solidFill>
              </a:defRPr>
            </a:pPr>
            <a:r>
              <a:t>• Mutex protege os mapas have (gravados) e claimed (em download).</a:t>
            </a:r>
          </a:p>
          <a:p>
            <a:pPr>
              <a:spcAft>
                <a:spcPts val="1400"/>
              </a:spcAft>
              <a:defRPr sz="2100" b="0">
                <a:solidFill>
                  <a:srgbClr val="F5F8FC"/>
                </a:solidFill>
              </a:defRPr>
            </a:pPr>
            <a:r>
              <a:t>• pread/pwrite gravam por deslocamento; OpenSSL confere o SHA-256.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22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548640"/>
            <a:ext cx="82296" cy="530352"/>
          </a:xfrm>
          <a:prstGeom prst="rect">
            <a:avLst/>
          </a:prstGeom>
          <a:solidFill>
            <a:srgbClr val="00A0A9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75488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3000" b="1">
                <a:solidFill>
                  <a:srgbClr val="F5F8FC"/>
                </a:solidFill>
              </a:defRPr>
            </a:pPr>
            <a:r>
              <a:t>Protocolo de comunicação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92240"/>
            <a:ext cx="10058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000" b="0">
                <a:solidFill>
                  <a:srgbClr val="B2C3D4"/>
                </a:solidFill>
              </a:defRPr>
            </a:pPr>
            <a:r>
              <a:t>CEFET-MG • Sistemas Distribuídos  |  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828800"/>
            <a:ext cx="10515600" cy="4251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100" b="0">
                <a:solidFill>
                  <a:srgbClr val="F5F8FC"/>
                </a:solidFill>
              </a:defRPr>
            </a:pPr>
            <a:r>
              <a:t>• Toda requisição: comando de 1 byte + IP e porta de quem pede.</a:t>
            </a:r>
          </a:p>
          <a:p>
            <a:pPr>
              <a:spcAft>
                <a:spcPts val="1400"/>
              </a:spcAft>
              <a:defRPr sz="2100" b="0">
                <a:solidFill>
                  <a:srgbClr val="F5F8FC"/>
                </a:solidFill>
              </a:defRPr>
            </a:pPr>
            <a:r>
              <a:t>• M — metadados P2PMETA1: nome, tamanho, bloco e hashes.</a:t>
            </a:r>
          </a:p>
          <a:p>
            <a:pPr>
              <a:spcAft>
                <a:spcPts val="1400"/>
              </a:spcAft>
              <a:defRPr sz="2100" b="0">
                <a:solidFill>
                  <a:srgbClr val="F5F8FC"/>
                </a:solidFill>
              </a:defRPr>
            </a:pPr>
            <a:r>
              <a:t>• H — mapa de disponibilidade: um byte por bloco do arquivo.</a:t>
            </a:r>
          </a:p>
          <a:p>
            <a:pPr>
              <a:spcAft>
                <a:spcPts val="1400"/>
              </a:spcAft>
              <a:defRPr sz="2100" b="0">
                <a:solidFill>
                  <a:srgbClr val="F5F8FC"/>
                </a:solidFill>
              </a:defRPr>
            </a:pPr>
            <a:r>
              <a:t>• G — bloco pelo índice; resposta com tamanho (uint32) e dados.</a:t>
            </a:r>
          </a:p>
          <a:p>
            <a:pPr>
              <a:spcAft>
                <a:spcPts val="1400"/>
              </a:spcAft>
              <a:defRPr sz="2100" b="0">
                <a:solidFill>
                  <a:srgbClr val="F5F8FC"/>
                </a:solidFill>
              </a:defRPr>
            </a:pPr>
            <a:r>
              <a:t>• Tamanho 0 indica pedido negado; logs registram origem e destino.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22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548640"/>
            <a:ext cx="82296" cy="530352"/>
          </a:xfrm>
          <a:prstGeom prst="rect">
            <a:avLst/>
          </a:prstGeom>
          <a:solidFill>
            <a:srgbClr val="00A0A9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75488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3000" b="1">
                <a:solidFill>
                  <a:srgbClr val="F5F8FC"/>
                </a:solidFill>
              </a:defRPr>
            </a:pPr>
            <a:r>
              <a:t>Fluxo de transferência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92240"/>
            <a:ext cx="10058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000" b="0">
                <a:solidFill>
                  <a:srgbClr val="B2C3D4"/>
                </a:solidFill>
              </a:defRPr>
            </a:pPr>
            <a:r>
              <a:t>CEFET-MG • Sistemas Distribuídos  |  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828800"/>
            <a:ext cx="10515600" cy="4251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100" b="0">
                <a:solidFill>
                  <a:srgbClr val="F5F8FC"/>
                </a:solidFill>
              </a:defRPr>
            </a:pPr>
            <a:r>
              <a:t>• 1. Obter os metadados de um vizinho e criar o arquivo .part.</a:t>
            </a:r>
          </a:p>
          <a:p>
            <a:pPr>
              <a:spcAft>
                <a:spcPts val="1400"/>
              </a:spcAft>
              <a:defRPr sz="2100" b="0">
                <a:solidFill>
                  <a:srgbClr val="F5F8FC"/>
                </a:solidFill>
              </a:defRPr>
            </a:pPr>
            <a:r>
              <a:t>• 2. Consultar o mapa de cada vizinho e reservar um bloco que falta.</a:t>
            </a:r>
          </a:p>
          <a:p>
            <a:pPr>
              <a:spcAft>
                <a:spcPts val="1400"/>
              </a:spcAft>
              <a:defRPr sz="2100" b="0">
                <a:solidFill>
                  <a:srgbClr val="F5F8FC"/>
                </a:solidFill>
              </a:defRPr>
            </a:pPr>
            <a:r>
              <a:t>• 3. Receber o bloco, conferir o SHA-256 e gravar na posição certa.</a:t>
            </a:r>
          </a:p>
          <a:p>
            <a:pPr>
              <a:spcAft>
                <a:spcPts val="1400"/>
              </a:spcAft>
              <a:defRPr sz="2100" b="0">
                <a:solidFill>
                  <a:srgbClr val="F5F8FC"/>
                </a:solidFill>
              </a:defRPr>
            </a:pPr>
            <a:r>
              <a:t>• 4. Marcar o bloco em have: ele já pode ser servido a outros peers.</a:t>
            </a:r>
          </a:p>
          <a:p>
            <a:pPr>
              <a:spcAft>
                <a:spcPts val="1400"/>
              </a:spcAft>
              <a:defRPr sz="2100" b="0">
                <a:solidFill>
                  <a:srgbClr val="F5F8FC"/>
                </a:solidFill>
              </a:defRPr>
            </a:pPr>
            <a:r>
              <a:t>• 5. Ao completar, conferir o SHA-256 do arquivo e renomear o .part.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22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548640"/>
            <a:ext cx="82296" cy="530352"/>
          </a:xfrm>
          <a:prstGeom prst="rect">
            <a:avLst/>
          </a:prstGeom>
          <a:solidFill>
            <a:srgbClr val="00A0A9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75488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3000" b="1">
                <a:solidFill>
                  <a:srgbClr val="F5F8FC"/>
                </a:solidFill>
              </a:defRPr>
            </a:pPr>
            <a:r>
              <a:t>Metodologia experimental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92240"/>
            <a:ext cx="10058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000" b="0">
                <a:solidFill>
                  <a:srgbClr val="B2C3D4"/>
                </a:solidFill>
              </a:defRPr>
            </a:pPr>
            <a:r>
              <a:t>CEFET-MG • Sistemas Distribuídos  |  09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828800"/>
            <a:ext cx="10515600" cy="4251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 b="0">
                <a:solidFill>
                  <a:srgbClr val="F5F8FC"/>
                </a:solidFill>
              </a:defRPr>
            </a:pPr>
            <a:r>
              <a:t>• 24 cenários: 2 e 4 peers × blocos de 1 e 4 KB × arquivos de 10 KB a 20 MB.</a:t>
            </a:r>
          </a:p>
          <a:p>
            <a:pPr>
              <a:spcAft>
                <a:spcPts val="1400"/>
              </a:spcAft>
              <a:defRPr sz="2000" b="0">
                <a:solidFill>
                  <a:srgbClr val="F5F8FC"/>
                </a:solidFill>
              </a:defRPr>
            </a:pPr>
            <a:r>
              <a:t>• 5 execuções por cenário (120 no total), com arquivo aleatório novo.</a:t>
            </a:r>
          </a:p>
          <a:p>
            <a:pPr>
              <a:spcAft>
                <a:spcPts val="1400"/>
              </a:spcAft>
              <a:defRPr sz="2000" b="0">
                <a:solidFill>
                  <a:srgbClr val="F5F8FC"/>
                </a:solidFill>
              </a:defRPr>
            </a:pPr>
            <a:r>
              <a:t>• Verificações: tamanho, SHA-256, metadados e origem de cada bloco.</a:t>
            </a:r>
          </a:p>
          <a:p>
            <a:pPr>
              <a:spcAft>
                <a:spcPts val="1400"/>
              </a:spcAft>
              <a:defRPr sz="2000" b="0">
                <a:solidFill>
                  <a:srgbClr val="F5F8FC"/>
                </a:solidFill>
              </a:defRPr>
            </a:pPr>
            <a:r>
              <a:t>• Falha: B encerrado com SIGKILL quando D tem 25% dos blocos.</a:t>
            </a:r>
          </a:p>
          <a:p>
            <a:pPr>
              <a:spcAft>
                <a:spcPts val="1400"/>
              </a:spcAft>
              <a:defRPr sz="2000" b="0">
                <a:solidFill>
                  <a:srgbClr val="F5F8FC"/>
                </a:solidFill>
              </a:defRPr>
            </a:pPr>
            <a:r>
              <a:t>• Linux, 127.0.0.1; cada peer mede seu tempo até o último bloco.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22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548640"/>
            <a:ext cx="82296" cy="530352"/>
          </a:xfrm>
          <a:prstGeom prst="rect">
            <a:avLst/>
          </a:prstGeom>
          <a:solidFill>
            <a:srgbClr val="00A0A9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75488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3000" b="1">
                <a:solidFill>
                  <a:srgbClr val="F5F8FC"/>
                </a:solidFill>
              </a:defRPr>
            </a:pPr>
            <a:r>
              <a:t>Resultados: tempo médio por cenário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61872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500" b="0">
                <a:solidFill>
                  <a:srgbClr val="B2C3D4"/>
                </a:solidFill>
              </a:defRPr>
            </a:pPr>
            <a:r>
              <a:t>Tempo do último leecher em ms — média de 5 execuções por cenário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92240"/>
            <a:ext cx="10058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000" b="0">
                <a:solidFill>
                  <a:srgbClr val="B2C3D4"/>
                </a:solidFill>
              </a:defRPr>
            </a:pPr>
            <a:r>
              <a:t>CEFET-MG • Sistemas Distribuídos  |  10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1005840" y="1828800"/>
          <a:ext cx="10058400" cy="42519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22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548640"/>
            <a:ext cx="82296" cy="530352"/>
          </a:xfrm>
          <a:prstGeom prst="rect">
            <a:avLst/>
          </a:prstGeom>
          <a:solidFill>
            <a:srgbClr val="00A0A9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75488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3000" b="1">
                <a:solidFill>
                  <a:srgbClr val="F5F8FC"/>
                </a:solidFill>
              </a:defRPr>
            </a:pPr>
            <a:r>
              <a:t>Resultados: integridade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92240"/>
            <a:ext cx="10058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000" b="0">
                <a:solidFill>
                  <a:srgbClr val="B2C3D4"/>
                </a:solidFill>
              </a:defRPr>
            </a:pPr>
            <a:r>
              <a:t>CEFET-MG • Sistemas Distribuídos  |  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965960"/>
            <a:ext cx="45720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6500" b="1">
                <a:solidFill>
                  <a:srgbClr val="00A0A9"/>
                </a:solidFill>
              </a:defRPr>
            </a:pPr>
            <a:r>
              <a:t>120 de 120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3749039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800" b="0">
                <a:solidFill>
                  <a:srgbClr val="F5F8FC"/>
                </a:solidFill>
              </a:defRPr>
            </a:pPr>
            <a:r>
              <a:t>execuções com tamanho, SHA-256, metadados e origens corretos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22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548640"/>
            <a:ext cx="82296" cy="530352"/>
          </a:xfrm>
          <a:prstGeom prst="rect">
            <a:avLst/>
          </a:prstGeom>
          <a:solidFill>
            <a:srgbClr val="00A0A9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75488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3000" b="1">
                <a:solidFill>
                  <a:srgbClr val="F5F8FC"/>
                </a:solidFill>
              </a:defRPr>
            </a:pPr>
            <a:r>
              <a:t>Resultados: distribuição de blocos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61872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500" b="0">
                <a:solidFill>
                  <a:srgbClr val="B2C3D4"/>
                </a:solidFill>
              </a:defRPr>
            </a:pPr>
            <a:r>
              <a:t>4 peers • arquivo de 20 MB • 20480 blocos de 1024 bytes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92240"/>
            <a:ext cx="10058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000" b="0">
                <a:solidFill>
                  <a:srgbClr val="B2C3D4"/>
                </a:solidFill>
              </a:defRPr>
            </a:pPr>
            <a:r>
              <a:t>CEFET-MG • Sistemas Distribuídos  |  12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1280160" y="1828800"/>
          <a:ext cx="9052560" cy="35661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1828800" y="56235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200" b="1">
                <a:solidFill>
                  <a:srgbClr val="F5F8FC"/>
                </a:solidFill>
              </a:defRPr>
            </a:pPr>
            <a:r>
              <a:t>C recebeu 36% de B  •  D recebeu 33% de B e 67% de C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22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548640"/>
            <a:ext cx="82296" cy="530352"/>
          </a:xfrm>
          <a:prstGeom prst="rect">
            <a:avLst/>
          </a:prstGeom>
          <a:solidFill>
            <a:srgbClr val="00A0A9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75488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3000" b="1">
                <a:solidFill>
                  <a:srgbClr val="F5F8FC"/>
                </a:solidFill>
              </a:defRPr>
            </a:pPr>
            <a:r>
              <a:t>Interpretação e limitações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92240"/>
            <a:ext cx="10058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000" b="0">
                <a:solidFill>
                  <a:srgbClr val="B2C3D4"/>
                </a:solidFill>
              </a:defRPr>
            </a:pPr>
            <a:r>
              <a:t>CEFET-MG • Sistemas Distribuídos  |  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828800"/>
            <a:ext cx="10515600" cy="4251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900" b="0">
                <a:solidFill>
                  <a:srgbClr val="F5F8FC"/>
                </a:solidFill>
              </a:defRPr>
            </a:pPr>
            <a:r>
              <a:t>• Blocos de 4 KB: 3,3 a 3,8 vezes mais rápidos (uma conexão por bloco).</a:t>
            </a:r>
          </a:p>
          <a:p>
            <a:pPr>
              <a:spcAft>
                <a:spcPts val="1400"/>
              </a:spcAft>
              <a:defRPr sz="1900" b="0">
                <a:solidFill>
                  <a:srgbClr val="F5F8FC"/>
                </a:solidFill>
              </a:defRPr>
            </a:pPr>
            <a:r>
              <a:t>• Com 4 peers, B é o mais lento (2860 ms em 20 MB): só conhece A.</a:t>
            </a:r>
          </a:p>
          <a:p>
            <a:pPr>
              <a:spcAft>
                <a:spcPts val="1400"/>
              </a:spcAft>
              <a:defRPr sz="1900" b="0">
                <a:solidFill>
                  <a:srgbClr val="F5F8FC"/>
                </a:solidFill>
              </a:defRPr>
            </a:pPr>
            <a:r>
              <a:t>• C e D usam dois vizinhos e terminam antes (1898 e 1953 ms).</a:t>
            </a:r>
          </a:p>
          <a:p>
            <a:pPr>
              <a:spcAft>
                <a:spcPts val="1400"/>
              </a:spcAft>
              <a:defRPr sz="1900" b="0">
                <a:solidFill>
                  <a:srgbClr val="F5F8FC"/>
                </a:solidFill>
              </a:defRPr>
            </a:pPr>
            <a:r>
              <a:t>• Falha: sem B, D terminou com C e registrou o vizinho inacessível.</a:t>
            </a:r>
          </a:p>
          <a:p>
            <a:pPr>
              <a:spcAft>
                <a:spcPts val="1400"/>
              </a:spcAft>
              <a:defRPr sz="1900" b="0">
                <a:solidFill>
                  <a:srgbClr val="F5F8FC"/>
                </a:solidFill>
              </a:defRPr>
            </a:pPr>
            <a:r>
              <a:t>• Localhost não tem a latência, as perdas e a banda de uma rede real.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22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548640"/>
            <a:ext cx="82296" cy="530352"/>
          </a:xfrm>
          <a:prstGeom prst="rect">
            <a:avLst/>
          </a:prstGeom>
          <a:solidFill>
            <a:srgbClr val="00A0A9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75488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3000" b="1">
                <a:solidFill>
                  <a:srgbClr val="F5F8FC"/>
                </a:solidFill>
              </a:defRPr>
            </a:pPr>
            <a:r>
              <a:t>Conclusão e próximos passos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92240"/>
            <a:ext cx="10058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000" b="0">
                <a:solidFill>
                  <a:srgbClr val="B2C3D4"/>
                </a:solidFill>
              </a:defRPr>
            </a:pPr>
            <a:r>
              <a:t>CEFET-MG • Sistemas Distribuídos  |  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828800"/>
            <a:ext cx="10515600" cy="4251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200" b="0">
                <a:solidFill>
                  <a:srgbClr val="F5F8FC"/>
                </a:solidFill>
              </a:defRPr>
            </a:pPr>
            <a:r>
              <a:t>• Requisitos atendidos: simetria, fragmentação, protocolo e montagem.</a:t>
            </a:r>
          </a:p>
          <a:p>
            <a:pPr>
              <a:spcAft>
                <a:spcPts val="1400"/>
              </a:spcAft>
              <a:defRPr sz="2200" b="0">
                <a:solidFill>
                  <a:srgbClr val="F5F8FC"/>
                </a:solidFill>
              </a:defRPr>
            </a:pPr>
            <a:r>
              <a:t>• Logs comprovam a troca entre leechers e a recuperação de falha.</a:t>
            </a:r>
          </a:p>
          <a:p>
            <a:pPr>
              <a:spcAft>
                <a:spcPts val="1400"/>
              </a:spcAft>
              <a:defRPr sz="2200" b="0">
                <a:solidFill>
                  <a:srgbClr val="F5F8FC"/>
                </a:solidFill>
              </a:defRPr>
            </a:pPr>
            <a:r>
              <a:t>• Próximos passos: conexão persistente, aviso de blocos e rede real.</a:t>
            </a:r>
          </a:p>
          <a:p>
            <a:pPr>
              <a:spcAft>
                <a:spcPts val="1400"/>
              </a:spcAft>
              <a:defRPr sz="2200" b="0">
                <a:solidFill>
                  <a:srgbClr val="F5F8FC"/>
                </a:solidFill>
              </a:defRPr>
            </a:pPr>
            <a:r>
              <a:t>• Código-fonte: github.com/allinesferreira/CEFET-SD_TP2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6235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700" b="1">
                <a:solidFill>
                  <a:srgbClr val="00A0A9"/>
                </a:solidFill>
              </a:defRPr>
            </a:pPr>
            <a:r>
              <a:t>Obrigado! Perguntas?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Transferência de arquivos Peer-to-Peer</dc:title>
  <dc:subject>Sistemas Distribuídos - Trabalho Prático 2</dc:subject>
  <dc:creator>Alline Santos Ferreira, Pedro Henrique Estevam Vaz de Melo, Rávilla Moreira</dc:creator>
  <cp:keywords/>
  <dc:description/>
  <cp:lastModifiedBy/>
  <cp:revision>1</cp:revision>
  <dcterms:created xsi:type="dcterms:W3CDTF">2026-10-27T17:00:00Z</dcterms:created>
  <dcterms:modified xsi:type="dcterms:W3CDTF">2026-10-29T15:00:00Z</dcterms:modified>
  <cp:category/>
</cp:coreProperties>
</file>